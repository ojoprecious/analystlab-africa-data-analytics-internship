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charset="0"/>
        <a:ea typeface="Droid Sans" charset="0"/>
        <a:cs typeface="Droid Sans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82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0" y="0"/>
      </p:cViewPr>
      <p:guideLst/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6000" b="0" i="0" u="none" strike="noStrike" kern="1200" cap="none" spc="0" baseline="0">
                <a:solidFill>
                  <a:schemeClr val="tx1"/>
                </a:solidFill>
                <a:latin typeface="Aptos Display" charset="0"/>
                <a:ea typeface="等线 Light" charset="0"/>
                <a:cs typeface="Lucida Sans"/>
              </a:rPr>
              <a:t>Click to edit Master title style</a:t>
            </a:r>
            <a:endParaRPr lang="zh-CN" altLang="en-US" sz="6000" b="0" i="0" u="none" strike="noStrike" kern="1200" cap="none" spc="0" baseline="0">
              <a:solidFill>
                <a:schemeClr val="tx1"/>
              </a:solidFill>
              <a:latin typeface="Aptos Display" charset="0"/>
              <a:ea typeface="等线 Light" charset="0"/>
              <a:cs typeface="Lucida Sans"/>
            </a:endParaRPr>
          </a:p>
        </p:txBody>
      </p:sp>
      <p:sp>
        <p:nvSpPr>
          <p:cNvPr id="8" name="Text box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zh-CN" sz="2400" b="0" i="0" u="none" strike="noStrike" kern="1200" cap="none" spc="0" baseline="0">
                <a:solidFill>
                  <a:schemeClr val="tx1"/>
                </a:solidFill>
                <a:latin typeface="Aptos" charset="0"/>
                <a:ea typeface="等线" charset="0"/>
                <a:cs typeface="Lucida Sans"/>
              </a:rPr>
              <a:t>Click to edit Master subtitle style</a:t>
            </a:r>
            <a:endParaRPr lang="zh-CN" altLang="en-US" sz="2400" b="0" i="0" u="none" strike="noStrike" kern="1200" cap="none" spc="0" baseline="0">
              <a:solidFill>
                <a:schemeClr val="tx1"/>
              </a:solidFill>
              <a:latin typeface="Aptos" charset="0"/>
              <a:ea typeface="等线" charset="0"/>
              <a:cs typeface="Lucida Sans"/>
            </a:endParaRPr>
          </a:p>
        </p:txBody>
      </p:sp>
      <p:sp>
        <p:nvSpPr>
          <p:cNvPr id="9" name="Text box"/>
          <p:cNvSpPr>
            <a:spLocks noGrp="1"/>
          </p:cNvSpPr>
          <p:nvPr>
            <p:ph type="dt" idx="10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b="0" i="0" u="none" strike="noStrike" kern="1200" cap="none" spc="0" baseline="0">
                <a:solidFill>
                  <a:srgbClr val="767676"/>
                </a:solidFill>
                <a:latin typeface="Aptos" charset="0"/>
                <a:ea typeface="等线" charset="0"/>
                <a:cs typeface="Aptos" charset="0"/>
              </a:rPr>
              <a:t>Date/Time</a:t>
            </a:r>
            <a:endParaRPr lang="zh-CN" altLang="en-US" sz="1200" b="0" i="0" u="none" strike="noStrike" kern="1200" cap="none" spc="0" baseline="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0" name="Text box"/>
          <p:cNvSpPr>
            <a:spLocks noGrp="1"/>
          </p:cNvSpPr>
          <p:nvPr>
            <p:ph type="ftr" idx="11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1200" b="0" i="0" u="none" strike="noStrike" kern="1200" cap="none" spc="0" baseline="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11" name="Text box"/>
          <p:cNvSpPr>
            <a:spLocks noGrp="1"/>
          </p:cNvSpPr>
          <p:nvPr>
            <p:ph type="sldNum" idx="12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767676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 b="0" i="0" u="none" strike="noStrike" kern="1200" cap="none" spc="0" baseline="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2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13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567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9741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box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Text box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Text box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657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6587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84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09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011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51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box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Text box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Text box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Text box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24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box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box"/>
          <p:cNvSpPr>
            <a:spLocks noGrp="1"/>
          </p:cNvSpPr>
          <p:nvPr>
            <p:ph type="dt" idx="2"/>
          </p:nvPr>
        </p:nvSpPr>
        <p:spPr>
          <a:xfrm>
            <a:off x="8382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767676"/>
                </a:solidFill>
                <a:latin typeface="Aptos" charset="0"/>
                <a:ea typeface="等线" charset="0"/>
                <a:cs typeface="Aptos" charset="0"/>
              </a:rPr>
              <a:t>8/9/2026</a:t>
            </a:fld>
            <a:endParaRPr lang="zh-CN" altLang="en-US" sz="120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5" name="Text box"/>
          <p:cNvSpPr>
            <a:spLocks noGrp="1"/>
          </p:cNvSpPr>
          <p:nvPr>
            <p:ph type="ftr" idx="3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endParaRPr lang="zh-CN" altLang="en-US" sz="120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  <p:sp>
        <p:nvSpPr>
          <p:cNvPr id="6" name="Text box"/>
          <p:cNvSpPr>
            <a:spLocks noGrp="1"/>
          </p:cNvSpPr>
          <p:nvPr>
            <p:ph type="sldNum" idx="4"/>
          </p:nvPr>
        </p:nvSpPr>
        <p:spPr>
          <a:xfrm>
            <a:off x="8610600" y="6356349"/>
            <a:ext cx="2743200" cy="36512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767676"/>
                </a:solidFill>
                <a:latin typeface="Aptos" charset="0"/>
                <a:ea typeface="等线" charset="0"/>
                <a:cs typeface="Aptos" charset="0"/>
              </a:rPr>
              <a:t>‹#›</a:t>
            </a:fld>
            <a:endParaRPr lang="zh-CN" altLang="en-US" sz="1200">
              <a:solidFill>
                <a:srgbClr val="767676"/>
              </a:solidFill>
              <a:latin typeface="Aptos" charset="0"/>
              <a:ea typeface="等线" charset="0"/>
              <a:cs typeface="Apto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61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l" defTabSz="914400" eaLnBrk="1" fontAlgn="auto" latinLnBrk="0" hangingPunct="1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Aptos Display" charset="0"/>
          <a:ea typeface="等线 Light" charset="0"/>
          <a:cs typeface="Aptos Display" charset="0"/>
        </a:defRPr>
      </a:lvl1pPr>
    </p:titleStyle>
    <p:bodyStyle>
      <a:lvl1pPr marL="228600" indent="-228600" algn="l" defTabSz="914400" eaLnBrk="1" fontAlgn="auto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1pPr>
      <a:lvl2pPr marL="685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2pPr>
      <a:lvl3pPr marL="1143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3pPr>
      <a:lvl4pPr marL="16002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4pPr>
      <a:lvl5pPr marL="20574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5pPr>
      <a:lvl6pPr marL="25146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6pPr>
      <a:lvl7pPr marL="29718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7pPr>
      <a:lvl8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8pPr>
      <a:lvl9pPr marL="3429000" indent="-228600" algn="l" defTabSz="914400" eaLnBrk="1" fontAlgn="auto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Aptos" charset="0"/>
          <a:ea typeface="等线" charset="0"/>
          <a:cs typeface="Aptos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box" descr="Double tap to add title&#10;"/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en-US" altLang="zh-CN" b="1" dirty="0"/>
              <a:t>Telco Customer  Churn Analysis</a:t>
            </a:r>
            <a:endParaRPr lang="zh-CN" altLang="en-US" b="1" dirty="0"/>
          </a:p>
        </p:txBody>
      </p:sp>
      <p:sp>
        <p:nvSpPr>
          <p:cNvPr id="31" name="Text box" descr="Click to edit Master text styles&#10;"/>
          <p:cNvSpPr>
            <a:spLocks noGrp="1"/>
          </p:cNvSpPr>
          <p:nvPr>
            <p:ph type="body" idx="1"/>
          </p:nvPr>
        </p:nvSpPr>
        <p:spPr>
          <a:xfrm>
            <a:off x="838200" y="1692277"/>
            <a:ext cx="10515600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indent="0">
              <a:buNone/>
            </a:pPr>
            <a:r>
              <a:rPr lang="en-US" altLang="zh-CN">
                <a:cs typeface="Droid Sans" charset="0"/>
              </a:rPr>
              <a:t>ABC Communications Ltd – Week 1 Business Case Study</a:t>
            </a:r>
          </a:p>
          <a:p>
            <a:pPr indent="0">
              <a:buNone/>
            </a:pPr>
            <a:endParaRPr lang="en-US" altLang="zh-CN">
              <a:cs typeface="Droid Sans" charset="0"/>
            </a:endParaRPr>
          </a:p>
          <a:p>
            <a:pPr indent="0">
              <a:buNone/>
            </a:pPr>
            <a:r>
              <a:rPr lang="en-US" altLang="zh-CN">
                <a:cs typeface="Droid Sans" charset="0"/>
              </a:rPr>
              <a:t>Prepared by: Precious Mojolaoluwa OJO</a:t>
            </a:r>
          </a:p>
          <a:p>
            <a:pPr indent="0">
              <a:buNone/>
            </a:pPr>
            <a:endParaRPr lang="en-US" altLang="zh-CN">
              <a:cs typeface="Droid Sans" charset="0"/>
            </a:endParaRPr>
          </a:p>
          <a:p>
            <a:pPr indent="0">
              <a:buNone/>
            </a:pPr>
            <a:r>
              <a:rPr lang="en-US" altLang="zh-CN">
                <a:cs typeface="Droid Sans" charset="0"/>
              </a:rPr>
              <a:t>Data Analytics Intern, AnalystLab Africa.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738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2493" y="3903662"/>
            <a:ext cx="4229104" cy="276333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0" name="Image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35120" y="735336"/>
            <a:ext cx="4213996" cy="267765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1" name="Images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43253" y="3854622"/>
            <a:ext cx="4456254" cy="2861409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70" name="Text box" descr="*#TXT_SIGN#*"/>
          <p:cNvSpPr txBox="1">
            <a:spLocks/>
          </p:cNvSpPr>
          <p:nvPr/>
        </p:nvSpPr>
        <p:spPr>
          <a:xfrm>
            <a:off x="3500009" y="21277"/>
            <a:ext cx="6720437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Customer Base Overview</a:t>
            </a:r>
            <a:endParaRPr lang="zh-CN" altLang="en-US" sz="2800" b="1" i="0" u="none" strike="noStrike" kern="120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68B833-119A-DA0D-418D-B0DF65B9C1FD}"/>
              </a:ext>
            </a:extLst>
          </p:cNvPr>
          <p:cNvSpPr txBox="1"/>
          <p:nvPr/>
        </p:nvSpPr>
        <p:spPr>
          <a:xfrm>
            <a:off x="350288" y="476768"/>
            <a:ext cx="7404750" cy="3218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6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Month-to-month contracts have the highest churn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6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Fiber optic customers churn more than DSL customers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6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Electronic check users leave more often than other payment methods</a:t>
            </a:r>
            <a:endParaRPr lang="zh-CN" altLang="en-US" sz="2600" b="0" i="0" u="none" strike="noStrike" kern="120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92105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3496" y="2875816"/>
            <a:ext cx="4089527" cy="3631336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67" name="Image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72771" y="2838757"/>
            <a:ext cx="4234949" cy="385027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8" name="Text box" descr="*#TXT_SIGN#*"/>
          <p:cNvSpPr txBox="1">
            <a:spLocks/>
          </p:cNvSpPr>
          <p:nvPr/>
        </p:nvSpPr>
        <p:spPr>
          <a:xfrm>
            <a:off x="752786" y="753747"/>
            <a:ext cx="10983943" cy="201260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About 26.5% of customers churned (1 in 4)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Gender split is almost 50/50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Churn is driven by service &amp; contract type, not demographics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/>
            </a:endParaRPr>
          </a:p>
        </p:txBody>
      </p:sp>
      <p:sp>
        <p:nvSpPr>
          <p:cNvPr id="69" name="Text box" descr="*#TXT_SIGN#*"/>
          <p:cNvSpPr txBox="1">
            <a:spLocks/>
          </p:cNvSpPr>
          <p:nvPr/>
        </p:nvSpPr>
        <p:spPr>
          <a:xfrm>
            <a:off x="3562937" y="168972"/>
            <a:ext cx="7328840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Customer Base Overview</a:t>
            </a:r>
            <a:endParaRPr lang="zh-CN" altLang="en-US" sz="2800" b="1" i="0" u="none" strike="noStrike" kern="120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123310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58603" y="3227521"/>
            <a:ext cx="4655382" cy="275652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6" name="Image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16485" y="3227521"/>
            <a:ext cx="3822190" cy="2756521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2" name="Text box" descr="*#TXT_SIGN#*"/>
          <p:cNvSpPr txBox="1">
            <a:spLocks/>
          </p:cNvSpPr>
          <p:nvPr/>
        </p:nvSpPr>
        <p:spPr>
          <a:xfrm>
            <a:off x="777433" y="972960"/>
            <a:ext cx="10637134" cy="252376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>
              <a:avLst/>
            </a:prstTxWarp>
            <a:spAutoFit/>
          </a:bodyPr>
          <a:lstStyle/>
          <a:p>
            <a:pPr marL="0" indent="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Droid Sans" charset="0"/>
              </a:rPr>
              <a:t>Many customers leave within the first 0–10 months</a:t>
            </a: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Droid Sans" charset="0"/>
              </a:rPr>
              <a:t>Charges cluster at ~$20 (low) and ~$70–100 (high)</a:t>
            </a:r>
          </a:p>
          <a:p>
            <a:pPr marL="0" indent="0" algn="l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Droid Sans" charset="0"/>
              </a:rPr>
              <a:t>New, high-paying customers are the highest-risk group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/>
            </a:endParaRPr>
          </a:p>
        </p:txBody>
      </p:sp>
      <p:sp>
        <p:nvSpPr>
          <p:cNvPr id="71" name="Text box" descr="*#TXT_SIGN#*"/>
          <p:cNvSpPr txBox="1">
            <a:spLocks/>
          </p:cNvSpPr>
          <p:nvPr/>
        </p:nvSpPr>
        <p:spPr>
          <a:xfrm>
            <a:off x="2727580" y="289183"/>
            <a:ext cx="7562222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Tenure &amp; Monthly Charges Distribution</a:t>
            </a:r>
            <a:endParaRPr lang="zh-CN" altLang="en-US" sz="2800" b="1" i="0" u="none" strike="noStrike" kern="120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1877242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s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1131" y="690105"/>
            <a:ext cx="5591350" cy="4556280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pic>
        <p:nvPicPr>
          <p:cNvPr id="58" name="Image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06859" y="3854566"/>
            <a:ext cx="4540503" cy="27836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63" name="Text box"/>
          <p:cNvSpPr txBox="1">
            <a:spLocks/>
          </p:cNvSpPr>
          <p:nvPr/>
        </p:nvSpPr>
        <p:spPr>
          <a:xfrm>
            <a:off x="5512341" y="690105"/>
            <a:ext cx="7038473" cy="324370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Tenure and Total Charges are strongly positively correlated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Churned customers pay higher monthly charges (box plot)</a:t>
            </a: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Droid Sans" charset="0"/>
              <a:buChar char="●"/>
            </a:pPr>
            <a:r>
              <a:rPr lang="en-US" altLang="zh-CN" sz="2800" b="0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Longer tenure = lower churn risk</a:t>
            </a:r>
            <a:endParaRPr lang="zh-CN" altLang="en-US" sz="2800" b="0" i="0" u="none" strike="noStrike" kern="120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/>
            </a:endParaRPr>
          </a:p>
        </p:txBody>
      </p:sp>
      <p:sp>
        <p:nvSpPr>
          <p:cNvPr id="72" name="Text box" descr="*#TXT_SIGN#*"/>
          <p:cNvSpPr txBox="1">
            <a:spLocks/>
          </p:cNvSpPr>
          <p:nvPr/>
        </p:nvSpPr>
        <p:spPr>
          <a:xfrm>
            <a:off x="3090426" y="154900"/>
            <a:ext cx="8356936" cy="584775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76200" tIns="76200" rIns="76200" bIns="76200" anchor="t" anchorCtr="0">
            <a:prstTxWarp prst="textNoShape">
              <a:avLst/>
            </a:prstTxWarp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1" i="0" u="none" strike="noStrike" kern="1200" cap="none" spc="0" baseline="0" dirty="0">
                <a:solidFill>
                  <a:schemeClr val="tx1"/>
                </a:solidFill>
                <a:latin typeface="Droid Sans" charset="0"/>
                <a:ea typeface="Droid Sans" charset="0"/>
                <a:cs typeface="Lucida Sans"/>
              </a:rPr>
              <a:t>Correlations &amp; Charges vs Churn</a:t>
            </a:r>
            <a:endParaRPr lang="zh-CN" altLang="en-US" sz="2800" b="1" i="0" u="none" strike="noStrike" kern="1200" cap="none" spc="0" baseline="0" dirty="0">
              <a:solidFill>
                <a:schemeClr val="tx1"/>
              </a:solidFill>
              <a:latin typeface="Droid Sans" charset="0"/>
              <a:ea typeface="Droid Sans" charset="0"/>
              <a:cs typeface="Lucida San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9B1BDFB0-F57D-3245-389F-806134B1C00A}"/>
              </a:ext>
            </a:extLst>
          </p:cNvPr>
          <p:cNvSpPr/>
          <p:nvPr/>
        </p:nvSpPr>
        <p:spPr>
          <a:xfrm>
            <a:off x="4867529" y="5489202"/>
            <a:ext cx="1689903" cy="584775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20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box" descr="Double tap to add title&#10;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2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algn="ctr"/>
            <a:r>
              <a:rPr lang="en-US" altLang="zh-CN" b="1" dirty="0"/>
              <a:t>Recommendations for Management</a:t>
            </a:r>
            <a:endParaRPr lang="zh-CN" altLang="en-US" b="1" dirty="0"/>
          </a:p>
        </p:txBody>
      </p:sp>
      <p:sp>
        <p:nvSpPr>
          <p:cNvPr id="74" name="Text box" descr="Click to edit Master text styles&#10;"/>
          <p:cNvSpPr>
            <a:spLocks noGrp="1"/>
          </p:cNvSpPr>
          <p:nvPr>
            <p:ph type="body" idx="1"/>
          </p:nvPr>
        </p:nvSpPr>
        <p:spPr>
          <a:xfrm>
            <a:off x="405113" y="1690686"/>
            <a:ext cx="11609407" cy="4351338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cs typeface="Droid Sans" charset="0"/>
              </a:rPr>
              <a:t>Offer discounts to upgrade month-to-month users to 1–2 year contracts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Droid Sans" charset="0"/>
              </a:rPr>
              <a:t>Improve fiber optic service quality &amp; pricing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Droid Sans" charset="0"/>
              </a:rPr>
              <a:t>Encourage automatic payment instead of electronic checks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cs typeface="Droid Sans" charset="0"/>
              </a:rPr>
              <a:t>Add a "first 6 months" onboarding/support program for new customers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75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66</TotalTime>
  <Words>188</Words>
  <Application>Microsoft Office PowerPoint</Application>
  <PresentationFormat>Widescreen</PresentationFormat>
  <Paragraphs>27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Droid Sans</vt:lpstr>
      <vt:lpstr>Aptos</vt:lpstr>
      <vt:lpstr>Aptos Display</vt:lpstr>
      <vt:lpstr>Arial</vt:lpstr>
      <vt:lpstr>Office Theme</vt:lpstr>
      <vt:lpstr>Telco Customer  Churn Analysis</vt:lpstr>
      <vt:lpstr>PowerPoint Presentation</vt:lpstr>
      <vt:lpstr>PowerPoint Presentation</vt:lpstr>
      <vt:lpstr>PowerPoint Presentation</vt:lpstr>
      <vt:lpstr>PowerPoint Presentation</vt:lpstr>
      <vt:lpstr>Recommendations for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 Y</dc:creator>
  <cp:lastModifiedBy>Precious Ojo</cp:lastModifiedBy>
  <cp:revision>2</cp:revision>
  <dcterms:created xsi:type="dcterms:W3CDTF">2025-07-24T02:23:27Z</dcterms:created>
  <dcterms:modified xsi:type="dcterms:W3CDTF">2026-08-09T03:44:31Z</dcterms:modified>
</cp:coreProperties>
</file>