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grandir Bold" panose="020B0604020202020204" charset="0"/>
      <p:regular r:id="rId7"/>
    </p:embeddedFont>
    <p:embeddedFont>
      <p:font typeface="Poppins" panose="00000500000000000000" pitchFamily="2" charset="0"/>
      <p:regular r:id="rId8"/>
    </p:embeddedFont>
    <p:embeddedFont>
      <p:font typeface="Poppins Bold" panose="00000800000000000000" charset="0"/>
      <p:regular r:id="rId9"/>
    </p:embeddedFont>
    <p:embeddedFont>
      <p:font typeface="Poppins Medium" panose="020B0502040204020203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80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58200" y="113617"/>
            <a:ext cx="8429800" cy="8737438"/>
            <a:chOff x="0" y="0"/>
            <a:chExt cx="2220194" cy="23012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0194" cy="2301218"/>
            </a:xfrm>
            <a:custGeom>
              <a:avLst/>
              <a:gdLst/>
              <a:ahLst/>
              <a:cxnLst/>
              <a:rect l="l" t="t" r="r" b="b"/>
              <a:pathLst>
                <a:path w="2220194" h="2301218">
                  <a:moveTo>
                    <a:pt x="0" y="0"/>
                  </a:moveTo>
                  <a:lnTo>
                    <a:pt x="2220194" y="0"/>
                  </a:lnTo>
                  <a:lnTo>
                    <a:pt x="2220194" y="2301218"/>
                  </a:lnTo>
                  <a:lnTo>
                    <a:pt x="0" y="2301218"/>
                  </a:lnTo>
                  <a:close/>
                </a:path>
              </a:pathLst>
            </a:custGeom>
            <a:solidFill>
              <a:srgbClr val="252A5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220194" cy="2367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175552" y="693237"/>
            <a:ext cx="7753884" cy="7687794"/>
            <a:chOff x="0" y="0"/>
            <a:chExt cx="1599853" cy="1478757"/>
          </a:xfrm>
        </p:grpSpPr>
        <p:sp>
          <p:nvSpPr>
            <p:cNvPr id="6" name="Freeform 6"/>
            <p:cNvSpPr/>
            <p:nvPr/>
          </p:nvSpPr>
          <p:spPr>
            <a:xfrm rot="-24000">
              <a:off x="-5142" y="-5566"/>
              <a:ext cx="1610137" cy="1489890"/>
            </a:xfrm>
            <a:custGeom>
              <a:avLst/>
              <a:gdLst/>
              <a:ahLst/>
              <a:cxnLst/>
              <a:rect l="l" t="t" r="r" b="b"/>
              <a:pathLst>
                <a:path w="1610137" h="1489890">
                  <a:moveTo>
                    <a:pt x="10323" y="0"/>
                  </a:moveTo>
                  <a:lnTo>
                    <a:pt x="1610137" y="11169"/>
                  </a:lnTo>
                  <a:lnTo>
                    <a:pt x="1599813" y="1489890"/>
                  </a:lnTo>
                  <a:lnTo>
                    <a:pt x="0" y="1478721"/>
                  </a:lnTo>
                  <a:close/>
                </a:path>
              </a:pathLst>
            </a:custGeom>
            <a:blipFill>
              <a:blip r:embed="rId2"/>
              <a:stretch>
                <a:fillRect l="-809" t="-6441" r="-46392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1028700" y="8851056"/>
            <a:ext cx="16230600" cy="0"/>
          </a:xfrm>
          <a:prstGeom prst="line">
            <a:avLst/>
          </a:prstGeom>
          <a:ln w="38100" cap="rnd">
            <a:solidFill>
              <a:srgbClr val="252A5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7259300" y="335487"/>
            <a:ext cx="352784" cy="353813"/>
            <a:chOff x="0" y="0"/>
            <a:chExt cx="470378" cy="47175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70378" cy="78819"/>
              <a:chOff x="0" y="0"/>
              <a:chExt cx="92914" cy="155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2914" cy="15569"/>
              </a:xfrm>
              <a:custGeom>
                <a:avLst/>
                <a:gdLst/>
                <a:ahLst/>
                <a:cxnLst/>
                <a:rect l="l" t="t" r="r" b="b"/>
                <a:pathLst>
                  <a:path w="92914" h="15569">
                    <a:moveTo>
                      <a:pt x="7785" y="0"/>
                    </a:moveTo>
                    <a:lnTo>
                      <a:pt x="85130" y="0"/>
                    </a:lnTo>
                    <a:cubicBezTo>
                      <a:pt x="89429" y="0"/>
                      <a:pt x="92914" y="3485"/>
                      <a:pt x="92914" y="7785"/>
                    </a:cubicBezTo>
                    <a:lnTo>
                      <a:pt x="92914" y="7785"/>
                    </a:lnTo>
                    <a:cubicBezTo>
                      <a:pt x="92914" y="12084"/>
                      <a:pt x="89429" y="15569"/>
                      <a:pt x="85130" y="15569"/>
                    </a:cubicBezTo>
                    <a:lnTo>
                      <a:pt x="7785" y="15569"/>
                    </a:lnTo>
                    <a:cubicBezTo>
                      <a:pt x="3485" y="15569"/>
                      <a:pt x="0" y="12084"/>
                      <a:pt x="0" y="7785"/>
                    </a:cubicBezTo>
                    <a:lnTo>
                      <a:pt x="0" y="7785"/>
                    </a:lnTo>
                    <a:cubicBezTo>
                      <a:pt x="0" y="3485"/>
                      <a:pt x="3485" y="0"/>
                      <a:pt x="7785" y="0"/>
                    </a:cubicBezTo>
                    <a:close/>
                  </a:path>
                </a:pathLst>
              </a:custGeom>
              <a:solidFill>
                <a:srgbClr val="252A57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92914" cy="822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196466"/>
              <a:ext cx="470378" cy="78819"/>
              <a:chOff x="0" y="0"/>
              <a:chExt cx="92914" cy="1556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92914" cy="15569"/>
              </a:xfrm>
              <a:custGeom>
                <a:avLst/>
                <a:gdLst/>
                <a:ahLst/>
                <a:cxnLst/>
                <a:rect l="l" t="t" r="r" b="b"/>
                <a:pathLst>
                  <a:path w="92914" h="15569">
                    <a:moveTo>
                      <a:pt x="7785" y="0"/>
                    </a:moveTo>
                    <a:lnTo>
                      <a:pt x="85130" y="0"/>
                    </a:lnTo>
                    <a:cubicBezTo>
                      <a:pt x="89429" y="0"/>
                      <a:pt x="92914" y="3485"/>
                      <a:pt x="92914" y="7785"/>
                    </a:cubicBezTo>
                    <a:lnTo>
                      <a:pt x="92914" y="7785"/>
                    </a:lnTo>
                    <a:cubicBezTo>
                      <a:pt x="92914" y="12084"/>
                      <a:pt x="89429" y="15569"/>
                      <a:pt x="85130" y="15569"/>
                    </a:cubicBezTo>
                    <a:lnTo>
                      <a:pt x="7785" y="15569"/>
                    </a:lnTo>
                    <a:cubicBezTo>
                      <a:pt x="3485" y="15569"/>
                      <a:pt x="0" y="12084"/>
                      <a:pt x="0" y="7785"/>
                    </a:cubicBezTo>
                    <a:lnTo>
                      <a:pt x="0" y="7785"/>
                    </a:lnTo>
                    <a:cubicBezTo>
                      <a:pt x="0" y="3485"/>
                      <a:pt x="3485" y="0"/>
                      <a:pt x="7785" y="0"/>
                    </a:cubicBezTo>
                    <a:close/>
                  </a:path>
                </a:pathLst>
              </a:custGeom>
              <a:solidFill>
                <a:srgbClr val="252A57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92914" cy="822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392932"/>
              <a:ext cx="470378" cy="78819"/>
              <a:chOff x="0" y="0"/>
              <a:chExt cx="92914" cy="1556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92914" cy="15569"/>
              </a:xfrm>
              <a:custGeom>
                <a:avLst/>
                <a:gdLst/>
                <a:ahLst/>
                <a:cxnLst/>
                <a:rect l="l" t="t" r="r" b="b"/>
                <a:pathLst>
                  <a:path w="92914" h="15569">
                    <a:moveTo>
                      <a:pt x="7785" y="0"/>
                    </a:moveTo>
                    <a:lnTo>
                      <a:pt x="85130" y="0"/>
                    </a:lnTo>
                    <a:cubicBezTo>
                      <a:pt x="89429" y="0"/>
                      <a:pt x="92914" y="3485"/>
                      <a:pt x="92914" y="7785"/>
                    </a:cubicBezTo>
                    <a:lnTo>
                      <a:pt x="92914" y="7785"/>
                    </a:lnTo>
                    <a:cubicBezTo>
                      <a:pt x="92914" y="12084"/>
                      <a:pt x="89429" y="15569"/>
                      <a:pt x="85130" y="15569"/>
                    </a:cubicBezTo>
                    <a:lnTo>
                      <a:pt x="7785" y="15569"/>
                    </a:lnTo>
                    <a:cubicBezTo>
                      <a:pt x="3485" y="15569"/>
                      <a:pt x="0" y="12084"/>
                      <a:pt x="0" y="7785"/>
                    </a:cubicBezTo>
                    <a:lnTo>
                      <a:pt x="0" y="7785"/>
                    </a:lnTo>
                    <a:cubicBezTo>
                      <a:pt x="0" y="3485"/>
                      <a:pt x="3485" y="0"/>
                      <a:pt x="7785" y="0"/>
                    </a:cubicBezTo>
                    <a:close/>
                  </a:path>
                </a:pathLst>
              </a:custGeom>
              <a:solidFill>
                <a:srgbClr val="252A57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66675"/>
                <a:ext cx="92914" cy="822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358564" y="1434538"/>
            <a:ext cx="3107696" cy="736245"/>
            <a:chOff x="0" y="0"/>
            <a:chExt cx="818488" cy="19390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8488" cy="193908"/>
            </a:xfrm>
            <a:custGeom>
              <a:avLst/>
              <a:gdLst/>
              <a:ahLst/>
              <a:cxnLst/>
              <a:rect l="l" t="t" r="r" b="b"/>
              <a:pathLst>
                <a:path w="818488" h="193908">
                  <a:moveTo>
                    <a:pt x="96954" y="0"/>
                  </a:moveTo>
                  <a:lnTo>
                    <a:pt x="721534" y="0"/>
                  </a:lnTo>
                  <a:cubicBezTo>
                    <a:pt x="775080" y="0"/>
                    <a:pt x="818488" y="43408"/>
                    <a:pt x="818488" y="96954"/>
                  </a:cubicBezTo>
                  <a:lnTo>
                    <a:pt x="818488" y="96954"/>
                  </a:lnTo>
                  <a:cubicBezTo>
                    <a:pt x="818488" y="150500"/>
                    <a:pt x="775080" y="193908"/>
                    <a:pt x="721534" y="193908"/>
                  </a:cubicBezTo>
                  <a:lnTo>
                    <a:pt x="96954" y="193908"/>
                  </a:lnTo>
                  <a:cubicBezTo>
                    <a:pt x="43408" y="193908"/>
                    <a:pt x="0" y="150500"/>
                    <a:pt x="0" y="96954"/>
                  </a:cubicBezTo>
                  <a:lnTo>
                    <a:pt x="0" y="96954"/>
                  </a:lnTo>
                  <a:cubicBezTo>
                    <a:pt x="0" y="43408"/>
                    <a:pt x="43408" y="0"/>
                    <a:pt x="96954" y="0"/>
                  </a:cubicBezTo>
                  <a:close/>
                </a:path>
              </a:pathLst>
            </a:custGeom>
            <a:ln w="28575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818488" cy="260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0" y="3525215"/>
            <a:ext cx="717127" cy="1618285"/>
            <a:chOff x="0" y="0"/>
            <a:chExt cx="188873" cy="42621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8873" cy="426215"/>
            </a:xfrm>
            <a:custGeom>
              <a:avLst/>
              <a:gdLst/>
              <a:ahLst/>
              <a:cxnLst/>
              <a:rect l="l" t="t" r="r" b="b"/>
              <a:pathLst>
                <a:path w="188873" h="426215">
                  <a:moveTo>
                    <a:pt x="0" y="0"/>
                  </a:moveTo>
                  <a:lnTo>
                    <a:pt x="188873" y="0"/>
                  </a:lnTo>
                  <a:lnTo>
                    <a:pt x="188873" y="426215"/>
                  </a:lnTo>
                  <a:lnTo>
                    <a:pt x="0" y="426215"/>
                  </a:lnTo>
                  <a:close/>
                </a:path>
              </a:pathLst>
            </a:custGeom>
            <a:solidFill>
              <a:srgbClr val="252A57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88873" cy="492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6853404" y="9584481"/>
            <a:ext cx="910484" cy="521459"/>
          </a:xfrm>
          <a:custGeom>
            <a:avLst/>
            <a:gdLst/>
            <a:ahLst/>
            <a:cxnLst/>
            <a:rect l="l" t="t" r="r" b="b"/>
            <a:pathLst>
              <a:path w="910484" h="521459">
                <a:moveTo>
                  <a:pt x="0" y="0"/>
                </a:moveTo>
                <a:lnTo>
                  <a:pt x="910485" y="0"/>
                </a:lnTo>
                <a:lnTo>
                  <a:pt x="910485" y="521459"/>
                </a:lnTo>
                <a:lnTo>
                  <a:pt x="0" y="5214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28700" y="3765488"/>
            <a:ext cx="9479910" cy="159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0"/>
              </a:lnSpc>
            </a:pPr>
            <a:r>
              <a:rPr lang="en-US" sz="6451" b="1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WHY PATIENTS MISS   APPOINTMENTS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20137" y="5213265"/>
            <a:ext cx="7038063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AND WHAT WE CAN DO ABOUT IT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1243" y="1598721"/>
            <a:ext cx="2842337" cy="35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94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Analyst lab Internship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97977" y="9338736"/>
            <a:ext cx="263938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Prepared By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78548" y="9338736"/>
            <a:ext cx="263938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252A57"/>
                </a:solidFill>
                <a:latin typeface="Poppins Bold"/>
                <a:ea typeface="Poppins Bold"/>
                <a:cs typeface="Poppins Bold"/>
                <a:sym typeface="Poppins Bold"/>
              </a:rPr>
              <a:t>Ojo Precious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93948" y="4494588"/>
            <a:ext cx="9818136" cy="7175908"/>
            <a:chOff x="0" y="0"/>
            <a:chExt cx="2585847" cy="1889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5847" cy="1889951"/>
            </a:xfrm>
            <a:custGeom>
              <a:avLst/>
              <a:gdLst/>
              <a:ahLst/>
              <a:cxnLst/>
              <a:rect l="l" t="t" r="r" b="b"/>
              <a:pathLst>
                <a:path w="2585847" h="1889951">
                  <a:moveTo>
                    <a:pt x="0" y="0"/>
                  </a:moveTo>
                  <a:lnTo>
                    <a:pt x="2585847" y="0"/>
                  </a:lnTo>
                  <a:lnTo>
                    <a:pt x="2585847" y="1889951"/>
                  </a:lnTo>
                  <a:lnTo>
                    <a:pt x="0" y="1889951"/>
                  </a:lnTo>
                  <a:close/>
                </a:path>
              </a:pathLst>
            </a:custGeom>
            <a:solidFill>
              <a:srgbClr val="252A5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585847" cy="1956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285748" y="3822862"/>
            <a:ext cx="9567656" cy="6279595"/>
            <a:chOff x="0" y="0"/>
            <a:chExt cx="1057961" cy="6943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7961" cy="694378"/>
            </a:xfrm>
            <a:custGeom>
              <a:avLst/>
              <a:gdLst/>
              <a:ahLst/>
              <a:cxnLst/>
              <a:rect l="l" t="t" r="r" b="b"/>
              <a:pathLst>
                <a:path w="1057961" h="694378">
                  <a:moveTo>
                    <a:pt x="0" y="0"/>
                  </a:moveTo>
                  <a:lnTo>
                    <a:pt x="1057961" y="0"/>
                  </a:lnTo>
                  <a:lnTo>
                    <a:pt x="1057961" y="694378"/>
                  </a:lnTo>
                  <a:lnTo>
                    <a:pt x="0" y="694378"/>
                  </a:lnTo>
                  <a:close/>
                </a:path>
              </a:pathLst>
            </a:custGeom>
            <a:blipFill>
              <a:blip r:embed="rId2"/>
              <a:stretch>
                <a:fillRect l="-2506" r="-250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-9163"/>
            <a:ext cx="4625959" cy="689300"/>
            <a:chOff x="0" y="0"/>
            <a:chExt cx="1218360" cy="1815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18360" cy="181544"/>
            </a:xfrm>
            <a:custGeom>
              <a:avLst/>
              <a:gdLst/>
              <a:ahLst/>
              <a:cxnLst/>
              <a:rect l="l" t="t" r="r" b="b"/>
              <a:pathLst>
                <a:path w="1218360" h="181544">
                  <a:moveTo>
                    <a:pt x="0" y="0"/>
                  </a:moveTo>
                  <a:lnTo>
                    <a:pt x="1218360" y="0"/>
                  </a:lnTo>
                  <a:lnTo>
                    <a:pt x="1218360" y="181544"/>
                  </a:lnTo>
                  <a:lnTo>
                    <a:pt x="0" y="181544"/>
                  </a:lnTo>
                  <a:close/>
                </a:path>
              </a:pathLst>
            </a:custGeom>
            <a:solidFill>
              <a:srgbClr val="252A5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218360" cy="248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3087" y="9258300"/>
            <a:ext cx="2146172" cy="531069"/>
            <a:chOff x="0" y="0"/>
            <a:chExt cx="565247" cy="1398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5247" cy="139870"/>
            </a:xfrm>
            <a:custGeom>
              <a:avLst/>
              <a:gdLst/>
              <a:ahLst/>
              <a:cxnLst/>
              <a:rect l="l" t="t" r="r" b="b"/>
              <a:pathLst>
                <a:path w="565247" h="139870">
                  <a:moveTo>
                    <a:pt x="69935" y="0"/>
                  </a:moveTo>
                  <a:lnTo>
                    <a:pt x="495312" y="0"/>
                  </a:lnTo>
                  <a:cubicBezTo>
                    <a:pt x="513860" y="0"/>
                    <a:pt x="531648" y="7368"/>
                    <a:pt x="544764" y="20483"/>
                  </a:cubicBezTo>
                  <a:cubicBezTo>
                    <a:pt x="557879" y="33599"/>
                    <a:pt x="565247" y="51387"/>
                    <a:pt x="565247" y="69935"/>
                  </a:cubicBezTo>
                  <a:lnTo>
                    <a:pt x="565247" y="69935"/>
                  </a:lnTo>
                  <a:cubicBezTo>
                    <a:pt x="565247" y="108559"/>
                    <a:pt x="533936" y="139870"/>
                    <a:pt x="495312" y="139870"/>
                  </a:cubicBezTo>
                  <a:lnTo>
                    <a:pt x="69935" y="139870"/>
                  </a:lnTo>
                  <a:cubicBezTo>
                    <a:pt x="51387" y="139870"/>
                    <a:pt x="33599" y="132502"/>
                    <a:pt x="20483" y="119387"/>
                  </a:cubicBezTo>
                  <a:cubicBezTo>
                    <a:pt x="7368" y="106271"/>
                    <a:pt x="0" y="88483"/>
                    <a:pt x="0" y="69935"/>
                  </a:cubicBezTo>
                  <a:lnTo>
                    <a:pt x="0" y="69935"/>
                  </a:lnTo>
                  <a:cubicBezTo>
                    <a:pt x="0" y="51387"/>
                    <a:pt x="7368" y="33599"/>
                    <a:pt x="20483" y="20483"/>
                  </a:cubicBezTo>
                  <a:cubicBezTo>
                    <a:pt x="33599" y="7368"/>
                    <a:pt x="51387" y="0"/>
                    <a:pt x="69935" y="0"/>
                  </a:cubicBezTo>
                  <a:close/>
                </a:path>
              </a:pathLst>
            </a:custGeom>
            <a:solidFill>
              <a:srgbClr val="252A57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565247" cy="206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4625959" y="9209196"/>
            <a:ext cx="531069" cy="531069"/>
          </a:xfrm>
          <a:custGeom>
            <a:avLst/>
            <a:gdLst/>
            <a:ahLst/>
            <a:cxnLst/>
            <a:rect l="l" t="t" r="r" b="b"/>
            <a:pathLst>
              <a:path w="531069" h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1159730" flipV="1">
            <a:off x="5889353" y="1231623"/>
            <a:ext cx="2758508" cy="779279"/>
          </a:xfrm>
          <a:custGeom>
            <a:avLst/>
            <a:gdLst/>
            <a:ahLst/>
            <a:cxnLst/>
            <a:rect l="l" t="t" r="r" b="b"/>
            <a:pathLst>
              <a:path w="2758508" h="779279">
                <a:moveTo>
                  <a:pt x="0" y="779278"/>
                </a:moveTo>
                <a:lnTo>
                  <a:pt x="2758508" y="779278"/>
                </a:lnTo>
                <a:lnTo>
                  <a:pt x="2758508" y="0"/>
                </a:lnTo>
                <a:lnTo>
                  <a:pt x="0" y="0"/>
                </a:lnTo>
                <a:lnTo>
                  <a:pt x="0" y="77927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59154" y="2495712"/>
            <a:ext cx="7880793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 looked at 5,000 appointments from HealthConnect Clinic dataset.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0" y="1184437"/>
            <a:ext cx="7447560" cy="268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00"/>
              </a:lnSpc>
            </a:pPr>
            <a:r>
              <a:rPr lang="en-US" sz="650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Almost half of the appointment never happen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79451" y="9278089"/>
            <a:ext cx="2079809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 More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9154" y="3959860"/>
            <a:ext cx="8784846" cy="464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264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2,423 patients simply did not show up . That is 48.5%, almost half. </a:t>
            </a:r>
          </a:p>
          <a:p>
            <a:pPr algn="l">
              <a:lnSpc>
                <a:spcPts val="3703"/>
              </a:lnSpc>
              <a:spcBef>
                <a:spcPct val="0"/>
              </a:spcBef>
            </a:pPr>
            <a:endParaRPr lang="en-US" sz="264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703"/>
              </a:lnSpc>
              <a:spcBef>
                <a:spcPct val="0"/>
              </a:spcBef>
            </a:pPr>
            <a:endParaRPr lang="en-US" sz="264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264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Only 263 cancelled properly. So the problem</a:t>
            </a:r>
          </a:p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264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is not people cancelling.</a:t>
            </a:r>
          </a:p>
          <a:p>
            <a:pPr algn="l">
              <a:lnSpc>
                <a:spcPts val="3703"/>
              </a:lnSpc>
              <a:spcBef>
                <a:spcPct val="0"/>
              </a:spcBef>
            </a:pPr>
            <a:endParaRPr lang="en-US" sz="264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703"/>
              </a:lnSpc>
              <a:spcBef>
                <a:spcPct val="0"/>
              </a:spcBef>
            </a:pPr>
            <a:endParaRPr lang="en-US" sz="264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264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It is people forgetting, or not being able to </a:t>
            </a:r>
          </a:p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264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5771" y="1062462"/>
            <a:ext cx="7447560" cy="105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00"/>
              </a:lnSpc>
            </a:pPr>
            <a:r>
              <a:rPr lang="en-US" sz="6500" b="1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Problem</a:t>
            </a:r>
          </a:p>
        </p:txBody>
      </p:sp>
      <p:grpSp>
        <p:nvGrpSpPr>
          <p:cNvPr id="20" name="Group 20"/>
          <p:cNvGrpSpPr/>
          <p:nvPr/>
        </p:nvGrpSpPr>
        <p:grpSpPr>
          <a:xfrm rot="-10800000">
            <a:off x="15533002" y="339400"/>
            <a:ext cx="4625959" cy="689300"/>
            <a:chOff x="0" y="0"/>
            <a:chExt cx="1218360" cy="1815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18360" cy="181544"/>
            </a:xfrm>
            <a:custGeom>
              <a:avLst/>
              <a:gdLst/>
              <a:ahLst/>
              <a:cxnLst/>
              <a:rect l="l" t="t" r="r" b="b"/>
              <a:pathLst>
                <a:path w="1218360" h="181544">
                  <a:moveTo>
                    <a:pt x="0" y="0"/>
                  </a:moveTo>
                  <a:lnTo>
                    <a:pt x="1218360" y="0"/>
                  </a:lnTo>
                  <a:lnTo>
                    <a:pt x="1218360" y="181544"/>
                  </a:lnTo>
                  <a:lnTo>
                    <a:pt x="0" y="181544"/>
                  </a:lnTo>
                  <a:close/>
                </a:path>
              </a:pathLst>
            </a:custGeom>
            <a:solidFill>
              <a:srgbClr val="252A57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218360" cy="248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2745204" y="-4711291"/>
            <a:ext cx="12610997" cy="19709583"/>
            <a:chOff x="0" y="0"/>
            <a:chExt cx="3321415" cy="51910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21415" cy="5191001"/>
            </a:xfrm>
            <a:custGeom>
              <a:avLst/>
              <a:gdLst/>
              <a:ahLst/>
              <a:cxnLst/>
              <a:rect l="l" t="t" r="r" b="b"/>
              <a:pathLst>
                <a:path w="3321415" h="5191001">
                  <a:moveTo>
                    <a:pt x="0" y="0"/>
                  </a:moveTo>
                  <a:lnTo>
                    <a:pt x="3321415" y="0"/>
                  </a:lnTo>
                  <a:lnTo>
                    <a:pt x="3321415" y="5191001"/>
                  </a:lnTo>
                  <a:lnTo>
                    <a:pt x="0" y="5191001"/>
                  </a:lnTo>
                  <a:close/>
                </a:path>
              </a:pathLst>
            </a:custGeom>
            <a:solidFill>
              <a:srgbClr val="252A57">
                <a:alpha val="91765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321415" cy="5257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13368" y="8217600"/>
            <a:ext cx="3256804" cy="2566418"/>
            <a:chOff x="0" y="0"/>
            <a:chExt cx="857759" cy="6759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7759" cy="675929"/>
            </a:xfrm>
            <a:custGeom>
              <a:avLst/>
              <a:gdLst/>
              <a:ahLst/>
              <a:cxnLst/>
              <a:rect l="l" t="t" r="r" b="b"/>
              <a:pathLst>
                <a:path w="857759" h="675929">
                  <a:moveTo>
                    <a:pt x="0" y="0"/>
                  </a:moveTo>
                  <a:lnTo>
                    <a:pt x="857759" y="0"/>
                  </a:lnTo>
                  <a:lnTo>
                    <a:pt x="857759" y="675929"/>
                  </a:lnTo>
                  <a:lnTo>
                    <a:pt x="0" y="675929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857759" cy="742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5590" y="5910360"/>
            <a:ext cx="6859586" cy="3885215"/>
            <a:chOff x="0" y="0"/>
            <a:chExt cx="1059453" cy="6000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9453" cy="600066"/>
            </a:xfrm>
            <a:custGeom>
              <a:avLst/>
              <a:gdLst/>
              <a:ahLst/>
              <a:cxnLst/>
              <a:rect l="l" t="t" r="r" b="b"/>
              <a:pathLst>
                <a:path w="1059453" h="600066">
                  <a:moveTo>
                    <a:pt x="0" y="0"/>
                  </a:moveTo>
                  <a:lnTo>
                    <a:pt x="1059453" y="0"/>
                  </a:lnTo>
                  <a:lnTo>
                    <a:pt x="1059453" y="600066"/>
                  </a:lnTo>
                  <a:lnTo>
                    <a:pt x="0" y="600066"/>
                  </a:lnTo>
                  <a:close/>
                </a:path>
              </a:pathLst>
            </a:custGeom>
            <a:blipFill>
              <a:blip r:embed="rId2"/>
              <a:stretch>
                <a:fillRect l="-6639" r="-663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996013" y="0"/>
            <a:ext cx="3256804" cy="2566418"/>
            <a:chOff x="0" y="0"/>
            <a:chExt cx="857759" cy="675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7759" cy="675929"/>
            </a:xfrm>
            <a:custGeom>
              <a:avLst/>
              <a:gdLst/>
              <a:ahLst/>
              <a:cxnLst/>
              <a:rect l="l" t="t" r="r" b="b"/>
              <a:pathLst>
                <a:path w="857759" h="675929">
                  <a:moveTo>
                    <a:pt x="0" y="0"/>
                  </a:moveTo>
                  <a:lnTo>
                    <a:pt x="857759" y="0"/>
                  </a:lnTo>
                  <a:lnTo>
                    <a:pt x="857759" y="675929"/>
                  </a:lnTo>
                  <a:lnTo>
                    <a:pt x="0" y="675929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857759" cy="742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35659" y="335487"/>
            <a:ext cx="8208598" cy="5090701"/>
            <a:chOff x="0" y="0"/>
            <a:chExt cx="1267806" cy="7862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67806" cy="786251"/>
            </a:xfrm>
            <a:custGeom>
              <a:avLst/>
              <a:gdLst/>
              <a:ahLst/>
              <a:cxnLst/>
              <a:rect l="l" t="t" r="r" b="b"/>
              <a:pathLst>
                <a:path w="1267806" h="786251">
                  <a:moveTo>
                    <a:pt x="0" y="0"/>
                  </a:moveTo>
                  <a:lnTo>
                    <a:pt x="1267806" y="0"/>
                  </a:lnTo>
                  <a:lnTo>
                    <a:pt x="1267806" y="786251"/>
                  </a:lnTo>
                  <a:lnTo>
                    <a:pt x="0" y="786251"/>
                  </a:lnTo>
                  <a:close/>
                </a:path>
              </a:pathLst>
            </a:custGeom>
            <a:blipFill>
              <a:blip r:embed="rId3"/>
              <a:stretch>
                <a:fillRect l="-12016" r="-12016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7422300" y="9795575"/>
            <a:ext cx="3256804" cy="491425"/>
            <a:chOff x="0" y="0"/>
            <a:chExt cx="857759" cy="1294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7759" cy="129429"/>
            </a:xfrm>
            <a:custGeom>
              <a:avLst/>
              <a:gdLst/>
              <a:ahLst/>
              <a:cxnLst/>
              <a:rect l="l" t="t" r="r" b="b"/>
              <a:pathLst>
                <a:path w="857759" h="129429">
                  <a:moveTo>
                    <a:pt x="0" y="0"/>
                  </a:moveTo>
                  <a:lnTo>
                    <a:pt x="857759" y="0"/>
                  </a:lnTo>
                  <a:lnTo>
                    <a:pt x="857759" y="129429"/>
                  </a:lnTo>
                  <a:lnTo>
                    <a:pt x="0" y="129429"/>
                  </a:lnTo>
                  <a:close/>
                </a:path>
              </a:pathLst>
            </a:custGeom>
            <a:solidFill>
              <a:srgbClr val="252A5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857759" cy="19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17631354" y="9493870"/>
            <a:ext cx="370872" cy="384751"/>
            <a:chOff x="0" y="0"/>
            <a:chExt cx="494495" cy="513001"/>
          </a:xfrm>
        </p:grpSpPr>
        <p:sp>
          <p:nvSpPr>
            <p:cNvPr id="19" name="AutoShape 19"/>
            <p:cNvSpPr/>
            <p:nvPr/>
          </p:nvSpPr>
          <p:spPr>
            <a:xfrm>
              <a:off x="13740" y="19050"/>
              <a:ext cx="480755" cy="0"/>
            </a:xfrm>
            <a:prstGeom prst="line">
              <a:avLst/>
            </a:prstGeom>
            <a:ln w="38100" cap="flat">
              <a:solidFill>
                <a:srgbClr val="252A57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" name="AutoShape 20"/>
            <p:cNvSpPr/>
            <p:nvPr/>
          </p:nvSpPr>
          <p:spPr>
            <a:xfrm flipV="1">
              <a:off x="475445" y="19050"/>
              <a:ext cx="0" cy="480755"/>
            </a:xfrm>
            <a:prstGeom prst="line">
              <a:avLst/>
            </a:prstGeom>
            <a:ln w="38100" cap="flat">
              <a:solidFill>
                <a:srgbClr val="252A57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" name="AutoShape 21"/>
            <p:cNvSpPr/>
            <p:nvPr/>
          </p:nvSpPr>
          <p:spPr>
            <a:xfrm flipV="1">
              <a:off x="13740" y="19050"/>
              <a:ext cx="461705" cy="480755"/>
            </a:xfrm>
            <a:prstGeom prst="line">
              <a:avLst/>
            </a:prstGeom>
            <a:ln w="38100" cap="flat">
              <a:solidFill>
                <a:srgbClr val="252A57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515034" y="1448359"/>
            <a:ext cx="3482033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Larana, Inc.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-753" y="0"/>
            <a:ext cx="3256804" cy="2566418"/>
            <a:chOff x="0" y="0"/>
            <a:chExt cx="857759" cy="6759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57759" cy="675929"/>
            </a:xfrm>
            <a:custGeom>
              <a:avLst/>
              <a:gdLst/>
              <a:ahLst/>
              <a:cxnLst/>
              <a:rect l="l" t="t" r="r" b="b"/>
              <a:pathLst>
                <a:path w="857759" h="675929">
                  <a:moveTo>
                    <a:pt x="0" y="0"/>
                  </a:moveTo>
                  <a:lnTo>
                    <a:pt x="857759" y="0"/>
                  </a:lnTo>
                  <a:lnTo>
                    <a:pt x="857759" y="675929"/>
                  </a:lnTo>
                  <a:lnTo>
                    <a:pt x="0" y="675929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857759" cy="742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85590" y="335487"/>
            <a:ext cx="8589834" cy="5090701"/>
            <a:chOff x="0" y="0"/>
            <a:chExt cx="1326687" cy="78625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26687" cy="786251"/>
            </a:xfrm>
            <a:custGeom>
              <a:avLst/>
              <a:gdLst/>
              <a:ahLst/>
              <a:cxnLst/>
              <a:rect l="l" t="t" r="r" b="b"/>
              <a:pathLst>
                <a:path w="1326687" h="786251">
                  <a:moveTo>
                    <a:pt x="0" y="0"/>
                  </a:moveTo>
                  <a:lnTo>
                    <a:pt x="1326687" y="0"/>
                  </a:lnTo>
                  <a:lnTo>
                    <a:pt x="1326687" y="786251"/>
                  </a:lnTo>
                  <a:lnTo>
                    <a:pt x="0" y="786251"/>
                  </a:lnTo>
                  <a:close/>
                </a:path>
              </a:pathLst>
            </a:custGeom>
            <a:blipFill>
              <a:blip r:embed="rId4"/>
              <a:stretch>
                <a:fillRect l="-9264" r="-9264"/>
              </a:stretch>
            </a:blipFill>
          </p:spPr>
        </p:sp>
      </p:grpSp>
      <p:sp>
        <p:nvSpPr>
          <p:cNvPr id="28" name="Freeform 28"/>
          <p:cNvSpPr/>
          <p:nvPr/>
        </p:nvSpPr>
        <p:spPr>
          <a:xfrm rot="1225734" flipV="1">
            <a:off x="11274733" y="6880868"/>
            <a:ext cx="2094334" cy="591649"/>
          </a:xfrm>
          <a:custGeom>
            <a:avLst/>
            <a:gdLst/>
            <a:ahLst/>
            <a:cxnLst/>
            <a:rect l="l" t="t" r="r" b="b"/>
            <a:pathLst>
              <a:path w="2094334" h="591649">
                <a:moveTo>
                  <a:pt x="0" y="591649"/>
                </a:moveTo>
                <a:lnTo>
                  <a:pt x="2094334" y="591649"/>
                </a:lnTo>
                <a:lnTo>
                  <a:pt x="2094334" y="0"/>
                </a:lnTo>
                <a:lnTo>
                  <a:pt x="0" y="0"/>
                </a:lnTo>
                <a:lnTo>
                  <a:pt x="0" y="59164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3124093" y="7100492"/>
            <a:ext cx="510491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They book too early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64253" y="7776767"/>
            <a:ext cx="353924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They live far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36846" y="5749499"/>
            <a:ext cx="9281199" cy="2270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3"/>
              </a:lnSpc>
            </a:pPr>
            <a:r>
              <a:rPr lang="en-US" sz="7784" b="1" dirty="0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Why People</a:t>
            </a:r>
          </a:p>
          <a:p>
            <a:pPr algn="ctr">
              <a:lnSpc>
                <a:spcPts val="8563"/>
              </a:lnSpc>
            </a:pPr>
            <a:r>
              <a:rPr lang="en-US" sz="7784" b="1" dirty="0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Miss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124093" y="8453043"/>
            <a:ext cx="472016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They have missed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before 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6215855" y="5910360"/>
            <a:ext cx="3256804" cy="491425"/>
            <a:chOff x="0" y="0"/>
            <a:chExt cx="857759" cy="12942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57759" cy="129429"/>
            </a:xfrm>
            <a:custGeom>
              <a:avLst/>
              <a:gdLst/>
              <a:ahLst/>
              <a:cxnLst/>
              <a:rect l="l" t="t" r="r" b="b"/>
              <a:pathLst>
                <a:path w="857759" h="129429">
                  <a:moveTo>
                    <a:pt x="0" y="0"/>
                  </a:moveTo>
                  <a:lnTo>
                    <a:pt x="857759" y="0"/>
                  </a:lnTo>
                  <a:lnTo>
                    <a:pt x="857759" y="129429"/>
                  </a:lnTo>
                  <a:lnTo>
                    <a:pt x="0" y="129429"/>
                  </a:lnTo>
                  <a:close/>
                </a:path>
              </a:pathLst>
            </a:custGeom>
            <a:solidFill>
              <a:srgbClr val="252A57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66675"/>
              <a:ext cx="857759" cy="19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99281" y="6636744"/>
            <a:ext cx="8518271" cy="3773758"/>
            <a:chOff x="0" y="0"/>
            <a:chExt cx="2243495" cy="9939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3495" cy="993911"/>
            </a:xfrm>
            <a:custGeom>
              <a:avLst/>
              <a:gdLst/>
              <a:ahLst/>
              <a:cxnLst/>
              <a:rect l="l" t="t" r="r" b="b"/>
              <a:pathLst>
                <a:path w="2243495" h="993911">
                  <a:moveTo>
                    <a:pt x="0" y="0"/>
                  </a:moveTo>
                  <a:lnTo>
                    <a:pt x="2243495" y="0"/>
                  </a:lnTo>
                  <a:lnTo>
                    <a:pt x="2243495" y="993911"/>
                  </a:lnTo>
                  <a:lnTo>
                    <a:pt x="0" y="993911"/>
                  </a:lnTo>
                  <a:close/>
                </a:path>
              </a:pathLst>
            </a:custGeom>
            <a:solidFill>
              <a:srgbClr val="252A5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243495" cy="1060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12597" y="-330759"/>
            <a:ext cx="6870102" cy="3265214"/>
            <a:chOff x="0" y="0"/>
            <a:chExt cx="1809410" cy="859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09410" cy="859974"/>
            </a:xfrm>
            <a:custGeom>
              <a:avLst/>
              <a:gdLst/>
              <a:ahLst/>
              <a:cxnLst/>
              <a:rect l="l" t="t" r="r" b="b"/>
              <a:pathLst>
                <a:path w="1809410" h="859974">
                  <a:moveTo>
                    <a:pt x="0" y="0"/>
                  </a:moveTo>
                  <a:lnTo>
                    <a:pt x="1809410" y="0"/>
                  </a:lnTo>
                  <a:lnTo>
                    <a:pt x="1809410" y="859974"/>
                  </a:lnTo>
                  <a:lnTo>
                    <a:pt x="0" y="859974"/>
                  </a:lnTo>
                  <a:close/>
                </a:path>
              </a:pathLst>
            </a:custGeom>
            <a:solidFill>
              <a:srgbClr val="252A5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809410" cy="926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7661" y="6824638"/>
            <a:ext cx="591548" cy="1898063"/>
            <a:chOff x="0" y="0"/>
            <a:chExt cx="155799" cy="4999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799" cy="499901"/>
            </a:xfrm>
            <a:custGeom>
              <a:avLst/>
              <a:gdLst/>
              <a:ahLst/>
              <a:cxnLst/>
              <a:rect l="l" t="t" r="r" b="b"/>
              <a:pathLst>
                <a:path w="155799" h="499901">
                  <a:moveTo>
                    <a:pt x="0" y="0"/>
                  </a:moveTo>
                  <a:lnTo>
                    <a:pt x="155799" y="0"/>
                  </a:lnTo>
                  <a:lnTo>
                    <a:pt x="155799" y="499901"/>
                  </a:lnTo>
                  <a:lnTo>
                    <a:pt x="0" y="499901"/>
                  </a:lnTo>
                  <a:close/>
                </a:path>
              </a:pathLst>
            </a:custGeom>
            <a:solidFill>
              <a:srgbClr val="252A5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55799" cy="56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612597" y="1822378"/>
            <a:ext cx="11675403" cy="6953243"/>
          </a:xfrm>
          <a:custGeom>
            <a:avLst/>
            <a:gdLst/>
            <a:ahLst/>
            <a:cxnLst/>
            <a:rect l="l" t="t" r="r" b="b"/>
            <a:pathLst>
              <a:path w="11675403" h="6953243">
                <a:moveTo>
                  <a:pt x="0" y="0"/>
                </a:moveTo>
                <a:lnTo>
                  <a:pt x="11675403" y="0"/>
                </a:lnTo>
                <a:lnTo>
                  <a:pt x="11675403" y="6953243"/>
                </a:lnTo>
                <a:lnTo>
                  <a:pt x="0" y="6953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3" b="-37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29209" y="6835536"/>
            <a:ext cx="7287915" cy="203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66"/>
              </a:lnSpc>
            </a:pPr>
            <a:r>
              <a:rPr lang="en-US" sz="6606" b="1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the </a:t>
            </a:r>
          </a:p>
          <a:p>
            <a:pPr algn="l">
              <a:lnSpc>
                <a:spcPts val="7266"/>
              </a:lnSpc>
            </a:pPr>
            <a:r>
              <a:rPr lang="en-US" sz="6606" b="1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Clinic should do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3435" y="998465"/>
            <a:ext cx="5536302" cy="1571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Ensure they send a Please Confirm text two weeks and 3 days before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6826" y="3422771"/>
            <a:ext cx="6479187" cy="104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Ensure they are called, not just text message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1126" y="240237"/>
            <a:ext cx="3539246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For early bookers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3378" y="2858256"/>
            <a:ext cx="6888424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For Missed Appointment Patients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6826" y="4749162"/>
            <a:ext cx="472854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For Far away patients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6826" y="5283248"/>
            <a:ext cx="6874976" cy="104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Offer a video call meeting instead of constant visits to the clinic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6598" y="3008365"/>
            <a:ext cx="366780" cy="366780"/>
          </a:xfrm>
          <a:custGeom>
            <a:avLst/>
            <a:gdLst/>
            <a:ahLst/>
            <a:cxnLst/>
            <a:rect l="l" t="t" r="r" b="b"/>
            <a:pathLst>
              <a:path w="366780" h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6598" y="381125"/>
            <a:ext cx="366780" cy="366780"/>
          </a:xfrm>
          <a:custGeom>
            <a:avLst/>
            <a:gdLst/>
            <a:ahLst/>
            <a:cxnLst/>
            <a:rect l="l" t="t" r="r" b="b"/>
            <a:pathLst>
              <a:path w="366780" h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6598" y="4865809"/>
            <a:ext cx="366780" cy="366780"/>
          </a:xfrm>
          <a:custGeom>
            <a:avLst/>
            <a:gdLst/>
            <a:ahLst/>
            <a:cxnLst/>
            <a:rect l="l" t="t" r="r" b="b"/>
            <a:pathLst>
              <a:path w="366780" h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96376" y="1334759"/>
            <a:ext cx="5168438" cy="2643560"/>
            <a:chOff x="0" y="0"/>
            <a:chExt cx="1361235" cy="6962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1235" cy="696246"/>
            </a:xfrm>
            <a:custGeom>
              <a:avLst/>
              <a:gdLst/>
              <a:ahLst/>
              <a:cxnLst/>
              <a:rect l="l" t="t" r="r" b="b"/>
              <a:pathLst>
                <a:path w="1361235" h="696246">
                  <a:moveTo>
                    <a:pt x="0" y="0"/>
                  </a:moveTo>
                  <a:lnTo>
                    <a:pt x="1361235" y="0"/>
                  </a:lnTo>
                  <a:lnTo>
                    <a:pt x="1361235" y="696246"/>
                  </a:lnTo>
                  <a:lnTo>
                    <a:pt x="0" y="696246"/>
                  </a:lnTo>
                  <a:close/>
                </a:path>
              </a:pathLst>
            </a:custGeom>
            <a:solidFill>
              <a:srgbClr val="252A5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361235" cy="762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87493" y="1763384"/>
            <a:ext cx="6745177" cy="4867337"/>
            <a:chOff x="0" y="0"/>
            <a:chExt cx="913527" cy="6592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3527" cy="659204"/>
            </a:xfrm>
            <a:custGeom>
              <a:avLst/>
              <a:gdLst/>
              <a:ahLst/>
              <a:cxnLst/>
              <a:rect l="l" t="t" r="r" b="b"/>
              <a:pathLst>
                <a:path w="913527" h="659204">
                  <a:moveTo>
                    <a:pt x="0" y="0"/>
                  </a:moveTo>
                  <a:lnTo>
                    <a:pt x="913527" y="0"/>
                  </a:lnTo>
                  <a:lnTo>
                    <a:pt x="913527" y="659204"/>
                  </a:lnTo>
                  <a:lnTo>
                    <a:pt x="0" y="659204"/>
                  </a:lnTo>
                  <a:close/>
                </a:path>
              </a:pathLst>
            </a:custGeom>
            <a:blipFill>
              <a:blip r:embed="rId2"/>
              <a:stretch>
                <a:fillRect t="-117573" b="-2989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3119562" y="9305986"/>
            <a:ext cx="5168438" cy="981014"/>
            <a:chOff x="0" y="0"/>
            <a:chExt cx="1361235" cy="2583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61235" cy="258374"/>
            </a:xfrm>
            <a:custGeom>
              <a:avLst/>
              <a:gdLst/>
              <a:ahLst/>
              <a:cxnLst/>
              <a:rect l="l" t="t" r="r" b="b"/>
              <a:pathLst>
                <a:path w="1361235" h="258374">
                  <a:moveTo>
                    <a:pt x="0" y="0"/>
                  </a:moveTo>
                  <a:lnTo>
                    <a:pt x="1361235" y="0"/>
                  </a:lnTo>
                  <a:lnTo>
                    <a:pt x="1361235" y="258374"/>
                  </a:lnTo>
                  <a:lnTo>
                    <a:pt x="0" y="258374"/>
                  </a:lnTo>
                  <a:close/>
                </a:path>
              </a:pathLst>
            </a:custGeom>
            <a:solidFill>
              <a:srgbClr val="252A5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361235" cy="325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5400000">
            <a:off x="17073864" y="8156977"/>
            <a:ext cx="370872" cy="384751"/>
            <a:chOff x="0" y="0"/>
            <a:chExt cx="494495" cy="513001"/>
          </a:xfrm>
        </p:grpSpPr>
        <p:sp>
          <p:nvSpPr>
            <p:cNvPr id="11" name="AutoShape 11"/>
            <p:cNvSpPr/>
            <p:nvPr/>
          </p:nvSpPr>
          <p:spPr>
            <a:xfrm>
              <a:off x="13740" y="19050"/>
              <a:ext cx="480755" cy="0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 flipV="1">
              <a:off x="475445" y="19050"/>
              <a:ext cx="0" cy="480755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>
            <a:xfrm flipV="1">
              <a:off x="13740" y="19050"/>
              <a:ext cx="461705" cy="480755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4" name="Freeform 14"/>
          <p:cNvSpPr/>
          <p:nvPr/>
        </p:nvSpPr>
        <p:spPr>
          <a:xfrm>
            <a:off x="2163119" y="7717807"/>
            <a:ext cx="895475" cy="892219"/>
          </a:xfrm>
          <a:custGeom>
            <a:avLst/>
            <a:gdLst/>
            <a:ahLst/>
            <a:cxnLst/>
            <a:rect l="l" t="t" r="r" b="b"/>
            <a:pathLst>
              <a:path w="895475" h="892219">
                <a:moveTo>
                  <a:pt x="0" y="0"/>
                </a:moveTo>
                <a:lnTo>
                  <a:pt x="895475" y="0"/>
                </a:lnTo>
                <a:lnTo>
                  <a:pt x="895475" y="892219"/>
                </a:lnTo>
                <a:lnTo>
                  <a:pt x="0" y="8922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961640" y="7293934"/>
            <a:ext cx="4863477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Ojo Precious Mojolaoluwa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93523" y="7918171"/>
            <a:ext cx="4631593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Let’s connect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4192" y="2996539"/>
            <a:ext cx="8258141" cy="3667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7"/>
              </a:lnSpc>
            </a:pPr>
            <a:r>
              <a:rPr lang="en-US" sz="2998" spc="-5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What this taught me </a:t>
            </a:r>
          </a:p>
          <a:p>
            <a:pPr algn="l">
              <a:lnSpc>
                <a:spcPts val="4197"/>
              </a:lnSpc>
            </a:pPr>
            <a:r>
              <a:rPr lang="en-US" sz="2998" spc="-5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Data is only useful when it changes what people do. </a:t>
            </a:r>
          </a:p>
          <a:p>
            <a:pPr algn="l">
              <a:lnSpc>
                <a:spcPts val="4197"/>
              </a:lnSpc>
            </a:pPr>
            <a:endParaRPr lang="en-US" sz="2998" spc="-59">
              <a:solidFill>
                <a:srgbClr val="0B0A0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97"/>
              </a:lnSpc>
            </a:pPr>
            <a:r>
              <a:rPr lang="en-US" sz="2998" spc="-5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My charts now feed a model that can flag risky appointments before they happen, and the clinic has three clear steps to try.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00584" y="2206216"/>
            <a:ext cx="7158716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60"/>
              </a:lnSpc>
            </a:pPr>
            <a:r>
              <a:rPr lang="en-US" sz="430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What this taught me</a:t>
            </a:r>
          </a:p>
        </p:txBody>
      </p:sp>
      <p:sp>
        <p:nvSpPr>
          <p:cNvPr id="19" name="Freeform 19"/>
          <p:cNvSpPr/>
          <p:nvPr/>
        </p:nvSpPr>
        <p:spPr>
          <a:xfrm>
            <a:off x="2163119" y="7092628"/>
            <a:ext cx="895475" cy="892219"/>
          </a:xfrm>
          <a:custGeom>
            <a:avLst/>
            <a:gdLst/>
            <a:ahLst/>
            <a:cxnLst/>
            <a:rect l="l" t="t" r="r" b="b"/>
            <a:pathLst>
              <a:path w="895475" h="892219">
                <a:moveTo>
                  <a:pt x="0" y="0"/>
                </a:moveTo>
                <a:lnTo>
                  <a:pt x="895475" y="0"/>
                </a:lnTo>
                <a:lnTo>
                  <a:pt x="895475" y="892218"/>
                </a:lnTo>
                <a:lnTo>
                  <a:pt x="0" y="8922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200</Words>
  <Application>Microsoft Office PowerPoint</Application>
  <PresentationFormat>Custom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Agrandir Bold</vt:lpstr>
      <vt:lpstr>Poppins</vt:lpstr>
      <vt:lpstr>Calibri</vt:lpstr>
      <vt:lpstr>Poppins Bold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Ocean Power Pitch Deck Presentation</dc:title>
  <dc:creator>ojo</dc:creator>
  <cp:lastModifiedBy>Precious Ojo</cp:lastModifiedBy>
  <cp:revision>2</cp:revision>
  <dcterms:created xsi:type="dcterms:W3CDTF">2006-08-16T00:00:00Z</dcterms:created>
  <dcterms:modified xsi:type="dcterms:W3CDTF">2026-09-24T14:12:02Z</dcterms:modified>
  <dc:identifier>DAHWFUoSyjE</dc:identifier>
</cp:coreProperties>
</file>